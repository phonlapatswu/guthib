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377440"/>
            <a:ext cx="8503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8FAFC"/>
                </a:solidFill>
              </a:rPr>
              <a:t>Shark Task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3520440"/>
            <a:ext cx="41148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3611880"/>
            <a:ext cx="8503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CBD5E1"/>
                </a:solidFill>
              </a:rPr>
              <a:t>กระบวนการพัฒนาซอฟต์แวร์ตั้งแต่ต้นจนจบ
Software Engineering Final Phase — Quality · Automation · Performance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82880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🦈  Shark Task  |  Software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🦈  Shark Task  |  Software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8412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8FAFC"/>
                </a:solidFill>
              </a:rPr>
              <a:t>📋  สิ่งที่จะนำเสนอวันนี้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25880"/>
            <a:ext cx="1371600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BD5E1"/>
                </a:solidFill>
              </a:rPr>
              <a:t>① กระบวนการทำงาน (SDLC &amp; Workflow)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865376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BD5E1"/>
                </a:solidFill>
              </a:rPr>
              <a:t>② การออกแบบระบบ (Architecture)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267712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BD5E1"/>
                </a:solidFill>
              </a:rPr>
              <a:t>③ การทดสอบคุณภาพ (Testing — Live Demo)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670048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BD5E1"/>
                </a:solidFill>
              </a:rPr>
              <a:t>④ การวิเคราะห์ประสิทธิภาพ (Static &amp; Dynamic Profiling)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072384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BD5E1"/>
                </a:solidFill>
              </a:rPr>
              <a:t>⑤ ระบบอัตโนมัติ (CI/CD Pipeline)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474720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BD5E1"/>
                </a:solidFill>
              </a:rPr>
              <a:t>⑥ Demo เว็บไซต์จริง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🦈  Shark Task  |  Software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8412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8FAFC"/>
                </a:solidFill>
              </a:rPr>
              <a:t>⚙️  SDLC: กระบวนการพัฒนาตั้งแต่ต้น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25880"/>
            <a:ext cx="1371600" cy="4572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46304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818CF8"/>
                </a:solidFill>
              </a:rPr>
              <a:t>โมเดลที่ใช้:  Iterative &amp; Incremental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011680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BD5E1"/>
                </a:solidFill>
              </a:rPr>
              <a:t>🔵 Phase 1 — Requirements &amp;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414016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BD5E1"/>
                </a:solidFill>
              </a:rPr>
              <a:t>   วิเคราะห์ความต้องการ, ออกแบบ DB Schema, วาง API Contract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816352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BD5E1"/>
                </a:solidFill>
              </a:rPr>
              <a:t>🟡 Phase 2 — Build (Core Features)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218688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BD5E1"/>
                </a:solidFill>
              </a:rPr>
              <a:t>   Auth → Project/Task CRUD → RBAC → Real-time Chat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621024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BD5E1"/>
                </a:solidFill>
              </a:rPr>
              <a:t>🟢 Phase 3 — Testing &amp; Integration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023360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BD5E1"/>
                </a:solidFill>
              </a:rPr>
              <a:t>   Integration Tests 29 Cases · Coverage 83.6% · All PASS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425696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BD5E1"/>
                </a:solidFill>
              </a:rPr>
              <a:t>🔴 Phase 4 — Profiling &amp; CI/CD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828032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BD5E1"/>
                </a:solidFill>
              </a:rPr>
              <a:t>   Static + Dynamic Profiling · GitHub Actions Pipeline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🦈  Shark Task  |  Software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8412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8FAFC"/>
                </a:solidFill>
              </a:rPr>
              <a:t>📐  Phase 1: Requirements → 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25880"/>
            <a:ext cx="1371600" cy="4572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46304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DD4BF"/>
                </a:solidFill>
              </a:rPr>
              <a:t>ความต้องการหลัก (Requirements)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874520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BD5E1"/>
                </a:solidFill>
              </a:rPr>
              <a:t>▸  ระบบจัดการงานแบบ Role-Based (Manager / Worker / Admin)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276856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BD5E1"/>
                </a:solidFill>
              </a:rPr>
              <a:t>▸  ติดตาม Timeline แบบ Gantt Chart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679192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BD5E1"/>
                </a:solidFill>
              </a:rPr>
              <a:t>▸  ระบบแจ้งเตือนและ Activity Log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218688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DD4BF"/>
                </a:solidFill>
              </a:rPr>
              <a:t>การออกแบบที่ตามมา (Design Decisions)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630168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BD5E1"/>
                </a:solidFill>
              </a:rPr>
              <a:t>▸  PostgreSQL + Prisma  →  จัดการ Relational Data ที่ซับซ้อน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032504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BD5E1"/>
                </a:solidFill>
              </a:rPr>
              <a:t>▸  Next.js App Router  →  แยก Public / Dashboard Route ชัดเจน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434840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BD5E1"/>
                </a:solidFill>
              </a:rPr>
              <a:t>▸  JWT + Middleware    →  Security Layer แยกจาก Business Logic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🦈  Shark Task  |  Software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8412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8FAFC"/>
                </a:solidFill>
              </a:rPr>
              <a:t>🏗️  Phase 2: Build — ลำดับการสร้างระบบ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25880"/>
            <a:ext cx="1371600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46304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8BDF8"/>
                </a:solidFill>
              </a:rPr>
              <a:t>Sprint 1  —  Foundation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874520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BD5E1"/>
                </a:solidFill>
              </a:rPr>
              <a:t>  DB Schema → Auth API (Register/Login/JWT) → Middleware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276856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8BDF8"/>
                </a:solidFill>
              </a:rPr>
              <a:t>Sprint 2  —  Core Feature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688336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BD5E1"/>
                </a:solidFill>
              </a:rPr>
              <a:t>  Project CRUD → Task CRUD → RBAC → Task Status Machine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09067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8BDF8"/>
                </a:solidFill>
              </a:rPr>
              <a:t>Sprint 3  —  Collaboration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502152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BD5E1"/>
                </a:solidFill>
              </a:rPr>
              <a:t>  Task Comments → File Attach → Activity Inbox → Messaging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904488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8BDF8"/>
                </a:solidFill>
              </a:rPr>
              <a:t>Sprint 4  —  Polish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315968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BD5E1"/>
                </a:solidFill>
              </a:rPr>
              <a:t>  Analytics Dashboard → Gantt Chart → Admin Panel → Search/Filter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855464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BD5E1"/>
                </a:solidFill>
              </a:rPr>
              <a:t>ทุก Sprint: เขียนโค้ด → ทดสอบ Manual → Commit → Review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🦈  Shark Task  |  Software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8412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8FAFC"/>
                </a:solidFill>
              </a:rPr>
              <a:t>สถาปัตยกรรมระบบ (System Architecture)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61872"/>
            <a:ext cx="1371600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417320"/>
            <a:ext cx="4069080" cy="5029200"/>
          </a:xfrm>
          <a:prstGeom prst="rect">
            <a:avLst/>
          </a:prstGeom>
          <a:solidFill>
            <a:srgbClr val="122046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600200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8BDF8"/>
                </a:solidFill>
              </a:rPr>
              <a:t>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84248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BD5E1"/>
                </a:solidFill>
              </a:rPr>
              <a:t>▸ Next.js 14 App Router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50008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BD5E1"/>
                </a:solidFill>
              </a:rPr>
              <a:t>▸ Axios Interceptor (Auto JWT)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715768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BD5E1"/>
                </a:solidFill>
              </a:rPr>
              <a:t>▸ Tailwind CSS + CSS Variables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081528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BD5E1"/>
                </a:solidFill>
              </a:rPr>
              <a:t>▸ Socket.io Client (Real-time)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447288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BD5E1"/>
                </a:solidFill>
              </a:rPr>
              <a:t>---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3813048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8BDF8"/>
                </a:solidFill>
              </a:rPr>
              <a:t>ทำไม Next.js?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197096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BD5E1"/>
                </a:solidFill>
              </a:rPr>
              <a:t>▸ SSR ลด load time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562856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BD5E1"/>
                </a:solidFill>
              </a:rPr>
              <a:t>▸ API Route isolation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928616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BD5E1"/>
                </a:solidFill>
              </a:rPr>
              <a:t>▸ Middleware ดัก Auth ได้ก่อน render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0" y="1417320"/>
            <a:ext cx="4206240" cy="5029200"/>
          </a:xfrm>
          <a:prstGeom prst="rect">
            <a:avLst/>
          </a:prstGeom>
          <a:solidFill>
            <a:srgbClr val="122046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09160" y="160020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DD4BF"/>
                </a:solidFill>
              </a:rPr>
              <a:t>Backend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1984248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BD5E1"/>
                </a:solidFill>
              </a:rPr>
              <a:t>▸ Node.js + Express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2350008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BD5E1"/>
                </a:solidFill>
              </a:rPr>
              <a:t>▸ Prisma ORM → PostgreSQL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0" y="2715768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BD5E1"/>
                </a:solidFill>
              </a:rPr>
              <a:t>▸ Socket.io Server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0" y="3081528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BD5E1"/>
                </a:solidFill>
              </a:rPr>
              <a:t>▸ Multer (File Upload)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0" y="3447288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BD5E1"/>
                </a:solidFill>
              </a:rPr>
              <a:t>---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60" y="3813048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DD4BF"/>
                </a:solidFill>
              </a:rPr>
              <a:t>หลักการ: Separation of Concerns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80" y="4197096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BD5E1"/>
                </a:solidFill>
              </a:rPr>
              <a:t>▸ Controller แยกจาก DB Logic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54880" y="4562856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BD5E1"/>
                </a:solidFill>
              </a:rPr>
              <a:t>▸ Middleware ดูแล Auth แยกต่างหาก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54880" y="4928616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BD5E1"/>
                </a:solidFill>
              </a:rPr>
              <a:t>▸ Mock-able = Test-able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🦈  Shark Task  |  Software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8412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8FAFC"/>
                </a:solidFill>
              </a:rPr>
              <a:t>🧪  Phase 3: Testing Strategy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25880"/>
            <a:ext cx="1371600" cy="4572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46304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DD4BF"/>
                </a:solidFill>
              </a:rPr>
              <a:t>แนวทาง: Black-box Integration Testing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874520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BD5E1"/>
                </a:solidFill>
              </a:rPr>
              <a:t>▸  ทดสอบพฤติกรรม API จากภายนอก เหมือนผู้ใช้จริง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276856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BD5E1"/>
                </a:solidFill>
              </a:rPr>
              <a:t>▸  ไม่ยึดติดกับ Implementation ภายใน (ทนต่อ Refactor)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81635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DD4BF"/>
                </a:solidFill>
              </a:rPr>
              <a:t>เครื่องมือ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227832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BD5E1"/>
                </a:solidFill>
              </a:rPr>
              <a:t>▸  Jest          — Test Runner + Assertion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630168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BD5E1"/>
                </a:solidFill>
              </a:rPr>
              <a:t>▸  Supertest     — จำลอง HTTP Request โดยไม่ต้องเปิด Server จริง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032504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BD5E1"/>
                </a:solidFill>
              </a:rPr>
              <a:t>▸  Manual Mock   — แทน Prisma Client ด้วย Mock เพื่อความเร็วและความแน่นอน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572000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BD5E1"/>
                </a:solidFill>
              </a:rPr>
              <a:t>▸  ผลลัพธ์: 29 Tests · 3 Suites · ใช้เวลา ~1 วินาที · PASS 100%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🦈  Shark Task  |  Software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8412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8FAFC"/>
                </a:solidFill>
              </a:rPr>
              <a:t>📊  สิ่งที่ทดสอบ (Test Coverage)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25880"/>
            <a:ext cx="1371600" cy="4572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46304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DD4BF"/>
                </a:solidFill>
              </a:rPr>
              <a:t>Authentication (9 cases)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874520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BD5E1"/>
                </a:solidFill>
              </a:rPr>
              <a:t>▸  Register ได้รับ JWT · ป้องกัน username/email ซ้ำ · Login ผิดรหัส = 401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414016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DD4BF"/>
                </a:solidFill>
              </a:rPr>
              <a:t>Projects (8 cases)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825496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BD5E1"/>
                </a:solidFill>
              </a:rPr>
              <a:t>▸  Worker สร้างโปรเจกต์ไม่ได้ (403) · Manager สร้างได้ · RBAC ถูกต้อง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36499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DD4BF"/>
                </a:solidFill>
              </a:rPr>
              <a:t>Tasks &amp; Status Machine (6 cases)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776472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BD5E1"/>
                </a:solidFill>
              </a:rPr>
              <a:t>▸  สร้างงาน Open → In Progress บันทึก started_at อัตโนมัติ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178808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BD5E1"/>
                </a:solidFill>
              </a:rPr>
              <a:t>▸  เปลี่ยนเป็น Closed บันทึก completed_at · Worker ปิดงานเองไม่ได้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718304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DD4BF"/>
                </a:solidFill>
              </a:rPr>
              <a:t>Messaging (5 cases)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5129784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BD5E1"/>
                </a:solidFill>
              </a:rPr>
              <a:t>▸  ส่งข้อความใน Project · ดึงประวัติ · บันทึก Read Receipt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🦈  Shark Task  |  Software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8412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8FAFC"/>
                </a:solidFill>
              </a:rPr>
              <a:t>📈  Phase 4: Profiling — วัดก่อน แก้ทีหลัง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25880"/>
            <a:ext cx="1371600" cy="4572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46304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818CF8"/>
                </a:solidFill>
              </a:rPr>
              <a:t>หลักการ: "You can't improve what you don't measure"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01168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818CF8"/>
                </a:solidFill>
              </a:rPr>
              <a:t>Static Profiling  (วิเคราะห์โค้ดก่อนรัน)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423160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BD5E1"/>
                </a:solidFill>
              </a:rPr>
              <a:t>▸  Next.js Production Build  →  ดู Bundle Size ต่อหน้า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825496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BD5E1"/>
                </a:solidFill>
              </a:rPr>
              <a:t>▸  npm audit  →  ตรวจหา Security Vulnerability ใน Dependencies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36499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818CF8"/>
                </a:solidFill>
              </a:rPr>
              <a:t>Dynamic Profiling  (วิเคราะห์ขณะรัน)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776472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BD5E1"/>
                </a:solidFill>
              </a:rPr>
              <a:t>▸  Chrome DevTools — Flame Graph  →  ดู CPU usage &amp; FPS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178808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BD5E1"/>
                </a:solidFill>
              </a:rPr>
              <a:t>▸  Heap Snapshot  →  ตรวจสอบ Memory Leak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581144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BD5E1"/>
                </a:solidFill>
              </a:rPr>
              <a:t>▸  API Response Time  →  วัดผ่าน Express Middleware Timer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🦈  Shark Task  |  Software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8412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8FAFC"/>
                </a:solidFill>
              </a:rPr>
              <a:t>ผล Profiling: Phase 3 → Phase 4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61872"/>
            <a:ext cx="1371600" cy="4572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417320"/>
            <a:ext cx="4069080" cy="5029200"/>
          </a:xfrm>
          <a:prstGeom prst="rect">
            <a:avLst/>
          </a:prstGeom>
          <a:solidFill>
            <a:srgbClr val="122046"/>
          </a:solidFill>
          <a:ln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600200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18CF8"/>
                </a:solidFill>
              </a:rPr>
              <a:t>Phase 3 (ก่อน)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84248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BD5E1"/>
                </a:solidFill>
              </a:rPr>
              <a:t>▸ Shared Bundle: ~84.3 kB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50008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BD5E1"/>
                </a:solidFill>
              </a:rPr>
              <a:t>▸ Page (Project Detail): 13.4 kB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715768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BD5E1"/>
                </a:solidFill>
              </a:rPr>
              <a:t>▸ 1 Critical Vulnerability (SSRF)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081528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BD5E1"/>
                </a:solidFill>
              </a:rPr>
              <a:t>▸ API Response: ~50ms avg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447288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BD5E1"/>
                </a:solidFill>
              </a:rPr>
              <a:t>▸ FPS: ไม่ได้วัด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813048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BD5E1"/>
                </a:solidFill>
              </a:rPr>
              <a:t>▸ Memory Leak: ไม่ได้ตรวจสอบ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0" y="1417320"/>
            <a:ext cx="4206240" cy="5029200"/>
          </a:xfrm>
          <a:prstGeom prst="rect">
            <a:avLst/>
          </a:prstGeom>
          <a:solidFill>
            <a:srgbClr val="122046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09160" y="160020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DD4BF"/>
                </a:solidFill>
              </a:rPr>
              <a:t>Phase 4 (หลัง Optimize)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1984248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BD5E1"/>
                </a:solidFill>
              </a:rPr>
              <a:t>▸ Shared Bundle: 87.4 kB (stable)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2350008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BD5E1"/>
                </a:solidFill>
              </a:rPr>
              <a:t>▸ Page (Gantt): 6.66 kB  ✅ -50%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2715768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BD5E1"/>
                </a:solidFill>
              </a:rPr>
              <a:t>▸ Vulnerability: Patched 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3081528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BD5E1"/>
                </a:solidFill>
              </a:rPr>
              <a:t>▸ API Response: 15–30ms   ✅ -50%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3447288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BD5E1"/>
                </a:solidFill>
              </a:rPr>
              <a:t>▸ FPS: 60 FPS stable     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0" y="3813048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BD5E1"/>
                </a:solidFill>
              </a:rPr>
              <a:t>▸ Memory Leak: ไม่พบ     ✅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🦈  Shark Task  |  Software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8412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8FAFC"/>
                </a:solidFill>
              </a:rPr>
              <a:t>🔧  การ Optimize จาก Profiling Result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25880"/>
            <a:ext cx="1371600" cy="4572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46304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818CF8"/>
                </a:solidFill>
              </a:rPr>
              <a:t>Static Fix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874520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BD5E1"/>
                </a:solidFill>
              </a:rPr>
              <a:t>▸  อัปเกรด Next.js  →  ปิดช่อง SSRF + Cache Poisoning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276856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BD5E1"/>
                </a:solidFill>
              </a:rPr>
              <a:t>▸  Dynamic Import (Code Splitting)  →  ลดขนาด Page Bundle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81635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818CF8"/>
                </a:solidFill>
              </a:rPr>
              <a:t>Dynamic Fix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227832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BD5E1"/>
                </a:solidFill>
              </a:rPr>
              <a:t>▸  useMemo บน Gantt Calculation  →  ไม่ Re-compute ทุก Render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630168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BD5E1"/>
                </a:solidFill>
              </a:rPr>
              <a:t>▸  socket.off() ทุก Unmount  →  ป้องกัน Event Listener Leak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032504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BD5E1"/>
                </a:solidFill>
              </a:rPr>
              <a:t>▸  Async/Await ทุกจุด  →  ไม่มี Blocking Code บน Event Loop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572000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BD5E1"/>
                </a:solidFill>
              </a:rPr>
              <a:t>▸  ทุกการแก้ไขมี Profiling Run ยืนยัน ก่อนและหลัง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🦈  Shark Task  |  Software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8412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8FAFC"/>
                </a:solidFill>
              </a:rPr>
              <a:t>🤖  CI/CD: Automate the Engineering Process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25880"/>
            <a:ext cx="1371600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46304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8BDF8"/>
                </a:solidFill>
              </a:rPr>
              <a:t>Trigger: ทุกครั้งที่ git push → GitHub Actions เริ่มทำงานอัตโนมัติ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01168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8BDF8"/>
                </a:solidFill>
              </a:rPr>
              <a:t>Job 1 — Backend CI (Integration Testing)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423160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BD5E1"/>
                </a:solidFill>
              </a:rPr>
              <a:t>  checkout  →  npm ci  →  prisma generate  →  npm test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825496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BD5E1"/>
                </a:solidFill>
              </a:rPr>
              <a:t>  ✅ ถ้า 29/29 ผ่าน = โค้ดปลอดภัย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36499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8BDF8"/>
                </a:solidFill>
              </a:rPr>
              <a:t>Job 2 — Frontend CD Check (Build Validation)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776472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BD5E1"/>
                </a:solidFill>
              </a:rPr>
              <a:t>  checkout  →  npm ci  →  npm run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178808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BD5E1"/>
                </a:solidFill>
              </a:rPr>
              <a:t>  ✅ ถ้า Build ผ่าน = Bundle Size ปกติ, ไม่มี Type Error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718304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BD5E1"/>
                </a:solidFill>
              </a:rPr>
              <a:t>▸  Jobs ทั้งสองรัน Parallel  →  ประหยัดเวลา ~50%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5120640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BD5E1"/>
                </a:solidFill>
              </a:rPr>
              <a:t>▸  ถ้าขั้นตอนไหนพัง  →  Block Merge ทันที (Zero Bug Policy)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🦈  Shark Task  |  Software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8412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8FAFC"/>
                </a:solidFill>
              </a:rPr>
              <a:t>💡  ทำไม CI/CD ถึงสำคัญ?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25880"/>
            <a:ext cx="1371600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46304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8BDF8"/>
                </a:solidFill>
              </a:rPr>
              <a:t>ปัญหาที่แก้ได้ด้วย CI/CD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874520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BD5E1"/>
                </a:solidFill>
              </a:rPr>
              <a:t>▸  "ในเครื่องผมใช้ได้" — แต่บน Server พัง  →  CI ตรวจสอบก่อน Merge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276856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BD5E1"/>
                </a:solidFill>
              </a:rPr>
              <a:t>▸  ลืมรัน Test ก่อน Push  →  Pipeline บังคับรันทุกครั้ง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679192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BD5E1"/>
                </a:solidFill>
              </a:rPr>
              <a:t>▸  Build Size พุ่งโดยไม่รู้  →  CD Job แจ้งเตือนทันที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218688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8BDF8"/>
                </a:solidFill>
              </a:rPr>
              <a:t>ในฐานะ SE: CI/CD = Safety Net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630168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BD5E1"/>
                </a:solidFill>
              </a:rPr>
              <a:t>▸  ทีมแก้โค้ดได้อย่างมั่นใจ เพราะมีหุ่นยนต์คอยตรวจ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032504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BD5E1"/>
                </a:solidFill>
              </a:rPr>
              <a:t>▸  ลดเวลา Manual QA ลง → โฟกัสที่ Feature ใหม่ได้เลย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434840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BD5E1"/>
                </a:solidFill>
              </a:rPr>
              <a:t>▸  บริษัท Tech ระดับโลก (Google, Meta) ใช้แนวทางนี้ทุกที่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🦈  Shark Task  |  Software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8412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8FAFC"/>
                </a:solidFill>
              </a:rPr>
              <a:t>⚠️  Known Issues &amp; Engineering Backlog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25880"/>
            <a:ext cx="1371600" cy="4572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46304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818CF8"/>
                </a:solidFill>
              </a:rPr>
              <a:t>ปัญหาที่พบและประเมินผลกระทบแล้ว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874520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BD5E1"/>
                </a:solidFill>
              </a:rPr>
              <a:t>▸  [Low]  Timezone Shift บน Gantt  →  แก้ด้วย date-fns UTC parser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276856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BD5E1"/>
                </a:solidFill>
              </a:rPr>
              <a:t>▸  [Low]  Dark Mode Hydration Flash  →  แก้ด้วย inline script บน &lt;head&gt;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679192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BD5E1"/>
                </a:solidFill>
              </a:rPr>
              <a:t>▸  [Med]  Socket Room ไม่ update แบบ Live  →  ใช้ emit('join-room') แก้ได้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081528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BD5E1"/>
                </a:solidFill>
              </a:rPr>
              <a:t>▸  [Med]  Storage Leak (Orphan Files)  →  เพิ่ม fs.unlink() บน Delete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621024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818CF8"/>
                </a:solidFill>
              </a:rPr>
              <a:t>มุมมองวิศวกร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032504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BD5E1"/>
                </a:solidFill>
              </a:rPr>
              <a:t>▸  การระบุ Known Issue แสดงว่า 'รู้จักระบบตัวเองดี'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434840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BD5E1"/>
                </a:solidFill>
              </a:rPr>
              <a:t>▸  ทุก Issue มีแผน Fix ชัดเจน ไม่ใช่แค่พบแล้วทิ้งไว้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837176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BD5E1"/>
                </a:solidFill>
              </a:rPr>
              <a:t>▸  จัดลำดับความสำคัญ (Priority) ตาม Impact vs Effort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🦈  Shark Task  |  Software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8412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8FAFC"/>
                </a:solidFill>
              </a:rPr>
              <a:t>🏆  สรุป: Engineering Excellence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25880"/>
            <a:ext cx="1371600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46304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8BDF8"/>
                </a:solidFill>
              </a:rPr>
              <a:t>กระบวนการครบวงจร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874520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BD5E1"/>
                </a:solidFill>
              </a:rPr>
              <a:t>▸  Requirements → Design → Build → Test → Profile → Automate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414016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8BDF8"/>
                </a:solidFill>
              </a:rPr>
              <a:t>ตัวเลขที่พิสูจน์คุณภาพ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825496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BD5E1"/>
                </a:solidFill>
              </a:rPr>
              <a:t>▸  29/29 Tests Passed   |   83.6% Code Coverage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227832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BD5E1"/>
                </a:solidFill>
              </a:rPr>
              <a:t>▸  Bundle 6.66 kB/page  |   API Response 15–30ms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630168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BD5E1"/>
                </a:solidFill>
              </a:rPr>
              <a:t>▸  60 FPS UI            |   CI/CD Pipeline ✅ Green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4169664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8BDF8"/>
                </a:solidFill>
              </a:rPr>
              <a:t>Shark Task ≠ แค่เว็บ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581144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BD5E1"/>
                </a:solidFill>
              </a:rPr>
              <a:t>▸  คือโปรเจกต์ที่ผ่านกระบวนการ Software Engineering จริงทุกขั้น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983480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BD5E1"/>
                </a:solidFill>
              </a:rPr>
              <a:t>▸  ทุกตัวเลขมาจากการวัดจริง ไม่ใช่การคาดเดา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